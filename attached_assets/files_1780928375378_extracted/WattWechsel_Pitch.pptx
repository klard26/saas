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39FF88">
              <a:alpha val="12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914400"/>
            <a:ext cx="868680" cy="868680"/>
          </a:xfrm>
          <a:prstGeom prst="roundRect">
            <a:avLst>
              <a:gd name="adj" fmla="val 18947"/>
            </a:avLst>
          </a:prstGeom>
          <a:solidFill>
            <a:srgbClr val="39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91440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4130A"/>
                </a:solidFill>
              </a:rPr>
              <a:t>⚡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1874520" y="960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100" kern="0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WATTWECHSEL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892808" y="14813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ENERGY GRID PLATFORM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274320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Energie-Autopilot für die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Wohnungswirtschaft.</a:t>
            </a:r>
            <a:endParaRPr lang="en-US" sz="4600" dirty="0"/>
          </a:p>
        </p:txBody>
      </p:sp>
      <p:sp>
        <p:nvSpPr>
          <p:cNvPr id="27" name="Text 25"/>
          <p:cNvSpPr/>
          <p:nvPr/>
        </p:nvSpPr>
        <p:spPr>
          <a:xfrm>
            <a:off x="822960" y="45720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Neutrale, KI-gestützte Strom-, Gas- &amp; Heizöl-Optimierung für Hausverwaltungen und Bestandshalter — portfolioweit, vollmachtbasiert, vollautomatisch.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Seed-Pitch · Energie Impuls GmbH · Berlin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PROBLEM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1005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Hausverwalter lassen jedes Jahr fünfstellige Beträge liegen.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822960" y="23774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2560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Hunderte Zählpunkte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294436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Allgemeinstrom, Heizgas, Heizöl über Dutzende Objekte — niemand vergleicht das systematisch.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23774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●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03720" y="25603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Manueller Aufwand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903720" y="294436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Wechsel bedeutet Rechnungen suchen, Fristen prüfen, kündigen, anmelden — pro Zählpunkt einzeln.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42062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417320" y="4389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Intransparente Tools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17320" y="477316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Bestehende „Tarifaufpasser" filtern nach Provision — der wirklich günstigste Tarif bleibt verborgen.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09360" y="4206240"/>
            <a:ext cx="5120640" cy="1554480"/>
          </a:xfrm>
          <a:prstGeom prst="roundRect">
            <a:avLst>
              <a:gd name="adj" fmla="val 4706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●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03720" y="43891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Compliance-Risiko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903720" y="4773168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 WEG-Kontext fehlt oft die saubere, widerrufbare Vollmachtskette für Wechsel im Eigentümerinteresse.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LÖSUNG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Ein Cockpit. Eine Vollmacht. Dauerhaft günstigste Verträge.</a:t>
            </a:r>
            <a:endParaRPr lang="en-US" sz="3000" dirty="0"/>
          </a:p>
        </p:txBody>
      </p:sp>
      <p:sp>
        <p:nvSpPr>
          <p:cNvPr id="23" name="Shape 21"/>
          <p:cNvSpPr/>
          <p:nvPr/>
        </p:nvSpPr>
        <p:spPr>
          <a:xfrm>
            <a:off x="822960" y="228600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" y="25603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39FF88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1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Erfassen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Rechnung hochladen — KI liest MaLo-ID, Verbrauch, Preis &amp; Kündigungsfrist automatisch aus.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18688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88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3566160" y="228600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25603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39FF88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1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8404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Vergleichen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840480" y="40233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Engine prüft 300+ Versorger neutral, bündelt Zählpunkte je Netzgebiet für Mengenvorteile.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61888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88"/>
                </a:solidFill>
              </a:rPr>
              <a:t>→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309360" y="228600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25603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39FF88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1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5836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Wechseln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583680" y="40233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 Vollmacht kündigt &amp; wechselt die Plattform automatisch — mit Widerspruchsfenster.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705088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9FF88"/>
                </a:solidFill>
              </a:rPr>
              <a:t>→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9052560" y="2286000"/>
            <a:ext cx="2468880" cy="3108960"/>
          </a:xfrm>
          <a:prstGeom prst="roundRect">
            <a:avLst>
              <a:gd name="adj" fmla="val 3704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26880" y="2560320"/>
            <a:ext cx="777240" cy="777240"/>
          </a:xfrm>
          <a:prstGeom prst="roundRect">
            <a:avLst>
              <a:gd name="adj" fmla="val 16471"/>
            </a:avLst>
          </a:prstGeom>
          <a:solidFill>
            <a:srgbClr val="39FF88"/>
          </a:solidFill>
          <a:ln/>
        </p:spPr>
      </p:sp>
      <p:sp>
        <p:nvSpPr>
          <p:cNvPr id="43" name="Text 41"/>
          <p:cNvSpPr/>
          <p:nvPr/>
        </p:nvSpPr>
        <p:spPr>
          <a:xfrm>
            <a:off x="932688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13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93268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Überwachen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9326880" y="402336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Daueraufpasser auf Preiserhöhungen &amp; Fristen über das ganze Portfolio. Audit-sicher.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WETTBEWERB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1005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Warum WattWechsel gewinnt.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22960" y="21031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Kriterium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Tarifaufpasser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(WechselFabrik)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85216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Makler-Pools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(Enfair, Ennux)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21031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Full-Service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(E.VITA)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241280" y="210312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9FF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WattWechsel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22960" y="2788920"/>
            <a:ext cx="11155680" cy="0"/>
          </a:xfrm>
          <a:prstGeom prst="line">
            <a:avLst/>
          </a:prstGeom>
          <a:noFill/>
          <a:ln w="12700">
            <a:solidFill>
              <a:srgbClr val="2840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2926080"/>
            <a:ext cx="11155680" cy="640080"/>
          </a:xfrm>
          <a:prstGeom prst="rect">
            <a:avLst/>
          </a:prstGeom>
          <a:solidFill>
            <a:srgbClr val="16201E">
              <a:alpha val="6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2971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Portfolio-/Multi-Objekt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0" y="2971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52160" y="2971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347"/>
                </a:solidFill>
              </a:rPr>
              <a:t>teils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46720" y="29718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938D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241280" y="29718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FF88"/>
                </a:solidFill>
              </a:rPr>
              <a:t>✓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22960" y="36301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Echte Neutralität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0" y="36301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347"/>
                </a:solidFill>
              </a:rPr>
              <a:t>teils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852160" y="36301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046720" y="363016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241280" y="363016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FF88"/>
                </a:solidFill>
              </a:rPr>
              <a:t>✓</a:t>
            </a:r>
            <a:endParaRPr lang="en-US" sz="1700" dirty="0"/>
          </a:p>
        </p:txBody>
      </p:sp>
      <p:sp>
        <p:nvSpPr>
          <p:cNvPr id="40" name="Shape 38"/>
          <p:cNvSpPr/>
          <p:nvPr/>
        </p:nvSpPr>
        <p:spPr>
          <a:xfrm>
            <a:off x="822960" y="4242816"/>
            <a:ext cx="11155680" cy="640080"/>
          </a:xfrm>
          <a:prstGeom prst="rect">
            <a:avLst/>
          </a:prstGeom>
          <a:solidFill>
            <a:srgbClr val="16201E">
              <a:alpha val="6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4288536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Heizöl integriert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657600" y="428853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852160" y="428853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046720" y="428853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347"/>
                </a:solidFill>
              </a:rPr>
              <a:t>teils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241280" y="428853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FF88"/>
                </a:solidFill>
              </a:rPr>
              <a:t>✓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22960" y="494690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Vollautomatik + Audit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57600" y="49469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D938D"/>
                </a:solidFill>
              </a:rPr>
              <a:t>✓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852160" y="49469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046720" y="494690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241280" y="4946904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FF88"/>
                </a:solidFill>
              </a:rPr>
              <a:t>✓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822960" y="5559552"/>
            <a:ext cx="11155680" cy="640080"/>
          </a:xfrm>
          <a:prstGeom prst="rect">
            <a:avLst/>
          </a:prstGeom>
          <a:solidFill>
            <a:srgbClr val="16201E">
              <a:alpha val="6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822960" y="5605272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WEG-Compliance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657600" y="56052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852160" y="56052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C5C"/>
                </a:solidFill>
              </a:rPr>
              <a:t>✗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046720" y="560527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B347"/>
                </a:solidFill>
              </a:rPr>
              <a:t>teils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241280" y="5605272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9FF88"/>
                </a:solidFill>
              </a:rPr>
              <a:t>✓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GESCHÄFTSMODELL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Neutralität als Verkaufsargument: Hybrid-Modell.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22960" y="228600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2286000"/>
            <a:ext cx="3429000" cy="109728"/>
          </a:xfrm>
          <a:prstGeom prst="rect">
            <a:avLst/>
          </a:prstGeom>
          <a:solidFill>
            <a:srgbClr val="39FF88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SaaS-Grundgebühr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€ / Zählpunkt / Jahr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370332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Planbare Recurring Revenue. Sichert das Neutralitätsversprechen — wir leben nicht von Versorgerprovision.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26280" y="228600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26280" y="2286000"/>
            <a:ext cx="3429000" cy="109728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Erfolgskomponente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4632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der realisierten Ersparnis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70332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Transparent ausgewiesen, optional. Aligned Incentive: wir verdienen nur, wenn der Kunde spart.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0" y="2286000"/>
            <a:ext cx="3429000" cy="3200400"/>
          </a:xfrm>
          <a:prstGeom prst="roundRect">
            <a:avLst>
              <a:gd name="adj" fmla="val 2857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0" y="2286000"/>
            <a:ext cx="3429000" cy="109728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5" name="Text 33"/>
          <p:cNvSpPr/>
          <p:nvPr/>
        </p:nvSpPr>
        <p:spPr>
          <a:xfrm>
            <a:off x="854964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Portfolio-Tier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54964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Staffel ab 100 Zählpunkten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49640" y="3703320"/>
            <a:ext cx="2834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Großbestandshalter &amp; WEG-Verwalter mit dediziertem Onboarding und API-Anbindung.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MARKT &amp; GO-TO-MARKET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Großer, fragmentierter Markt — klarer Einstieg.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22960" y="21945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~21 Mio.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109728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Mietwohnungen in 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jede mit Allgemeinstrom-Zählpunkten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26280" y="21945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~3.000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48006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gewerbl. Hausverwaltungen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0060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verwalten den Großteil des Bestands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229600" y="21945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2377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100–800 €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850392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Ersparnis je Zählpunkt/Jahr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0" y="35204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Hebel über das gesamte Portfolio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9FF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GTM-Sequenz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Pilot mit Energie Impuls GmbH als Ankerkunde — echte Objekte, Referenzcase mit harten Zahlen.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Direktvertrieb an mittelgroße Verwaltungen (50–300 Zählpunkte) — schnelle, sichtbare Ersparnis.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Skalierung über Verbände (BVI, DDIV, GdW) als Multiplikatoren statt teurer Einzelakquise.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TECHNOLOGIE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1005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Architektur — gebaut für Compliance &amp; Skalierung.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22960" y="219456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2194560"/>
            <a:ext cx="91440" cy="640080"/>
          </a:xfrm>
          <a:prstGeom prst="rect">
            <a:avLst/>
          </a:prstGeom>
          <a:solidFill>
            <a:srgbClr val="39FF88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2194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Onboarding-Layer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480560" y="21945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OCR + Claude-API liest Rechnungen aus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297180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2971800"/>
            <a:ext cx="91440" cy="64008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2971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Vergleichs-Engine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80560" y="29718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300+ Versorger · Portfolio-Bündelung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2960" y="374904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" y="3749040"/>
            <a:ext cx="91440" cy="640080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KI-Schicht (Claude)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37490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Parsing · Anomalie · Kündigungsschreiben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22960" y="452628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4526280"/>
            <a:ext cx="91440" cy="640080"/>
          </a:xfrm>
          <a:prstGeom prst="rect">
            <a:avLst/>
          </a:prstGeom>
          <a:solidFill>
            <a:srgbClr val="39FF88"/>
          </a:solidFill>
          <a:ln/>
        </p:spPr>
      </p:sp>
      <p:sp>
        <p:nvSpPr>
          <p:cNvPr id="37" name="Text 35"/>
          <p:cNvSpPr/>
          <p:nvPr/>
        </p:nvSpPr>
        <p:spPr>
          <a:xfrm>
            <a:off x="1097280" y="45262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Wechsel-Orchestrierung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480560" y="45262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State-Machine · Vollmacht-Gate · Audit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22960" y="5303520"/>
            <a:ext cx="7863840" cy="640080"/>
          </a:xfrm>
          <a:prstGeom prst="roundRect">
            <a:avLst>
              <a:gd name="adj" fmla="val 8571"/>
            </a:avLst>
          </a:prstGeom>
          <a:solidFill>
            <a:srgbClr val="111817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5303520"/>
            <a:ext cx="91440" cy="640080"/>
          </a:xfrm>
          <a:prstGeom prst="rect">
            <a:avLst/>
          </a:prstGeom>
          <a:solidFill>
            <a:srgbClr val="5CC8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97280" y="53035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Monitoring-Layer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4480560" y="5303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Fristen- &amp; Preisüberwachung 24/7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9052560" y="2194560"/>
            <a:ext cx="2286000" cy="4069080"/>
          </a:xfrm>
          <a:prstGeom prst="roundRect">
            <a:avLst>
              <a:gd name="adj" fmla="val 4000"/>
            </a:avLst>
          </a:prstGeom>
          <a:solidFill>
            <a:srgbClr val="16201E"/>
          </a:solidFill>
          <a:ln w="12700">
            <a:solidFill>
              <a:srgbClr val="28403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5440" y="2377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235440" y="288036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80000"/>
              </a:lnSpc>
              <a:buNone/>
            </a:pPr>
            <a:r>
              <a:rPr lang="en-US" sz="135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PostgreSQL</a:t>
            </a:r>
            <a:endParaRPr lang="en-US" sz="135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5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Next.js / React</a:t>
            </a:r>
            <a:endParaRPr lang="en-US" sz="135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5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FastAPI</a:t>
            </a:r>
            <a:endParaRPr lang="en-US" sz="135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5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Claude API</a:t>
            </a:r>
            <a:endParaRPr lang="en-US" sz="1350" dirty="0"/>
          </a:p>
          <a:p>
            <a:pPr indent="0" marL="0">
              <a:lnSpc>
                <a:spcPct val="180000"/>
              </a:lnSpc>
              <a:buNone/>
            </a:pPr>
            <a:r>
              <a:rPr lang="en-US" sz="135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Tarif-Feed Integr.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219456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329184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438912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548640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6583680"/>
            <a:ext cx="12161520" cy="0"/>
          </a:xfrm>
          <a:prstGeom prst="line">
            <a:avLst/>
          </a:prstGeom>
          <a:noFill/>
          <a:ln w="6350">
            <a:solidFill>
              <a:srgbClr val="28403B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-1828800" y="4114800"/>
            <a:ext cx="6400800" cy="6400800"/>
          </a:xfrm>
          <a:prstGeom prst="ellipse">
            <a:avLst/>
          </a:prstGeom>
          <a:solidFill>
            <a:srgbClr val="39FF88">
              <a:alpha val="1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731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DER ASK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1188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9FF8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€ 950.000 Seed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18 Monate Runway bis zum skalierbaren, profitablen B2B-SaaS.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31089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2468880" y="3154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Produkt &amp; Engineering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468880" y="358444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Vergleichs-Engine, Wechsel-Automatik, Audit-Layer,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16052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30%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246888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Tarif-Daten &amp; Integrationen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468880" y="463600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Feed-Partnerschaften, Versorger-Schnittstellen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521208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9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25%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2468880" y="5257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3F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Vertrieb &amp; Verband-GTM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2468880" y="56875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938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Direktvertrieb + Multiplikatoren-Kanäle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2960" y="6355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Energie Impuls GmbH · Kurfürstendamm 218, 10719 Berlin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WattWechsel — Pitch Deck</dc:title>
  <dc:subject>PptxGenJS Presentation</dc:subject>
  <dc:creator>Energie Impuls GmbH</dc:creator>
  <cp:lastModifiedBy>Energie Impuls GmbH</cp:lastModifiedBy>
  <cp:revision>1</cp:revision>
  <dcterms:created xsi:type="dcterms:W3CDTF">2026-06-08T14:10:40Z</dcterms:created>
  <dcterms:modified xsi:type="dcterms:W3CDTF">2026-06-08T14:10:40Z</dcterms:modified>
</cp:coreProperties>
</file>